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4040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6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23.png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kern="0" spc="8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e-POM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Digital Leader's Office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731520" y="2743200"/>
            <a:ext cx="22860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731520" y="3017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Time, Information and Action</a:t>
            </a:r>
            <a:endParaRPr lang="en-US" sz="16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high-performance governance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400800" y="3474720"/>
            <a:ext cx="594360" cy="594360"/>
          </a:xfrm>
          <a:prstGeom prst="ellipse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7960" y="3611880"/>
            <a:ext cx="320040" cy="32004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7223760" y="3474720"/>
            <a:ext cx="594360" cy="59436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3611880"/>
            <a:ext cx="320040" cy="32004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8046720" y="3474720"/>
            <a:ext cx="594360" cy="59436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3880" y="36118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80760" y="41605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          Information           Action</a:t>
            </a:r>
            <a:endParaRPr lang="en-US" sz="900" dirty="0"/>
          </a:p>
        </p:txBody>
      </p:sp>
      <p:sp>
        <p:nvSpPr>
          <p:cNvPr id="14" name="Text 9"/>
          <p:cNvSpPr/>
          <p:nvPr/>
        </p:nvSpPr>
        <p:spPr>
          <a:xfrm>
            <a:off x="731520" y="45720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proposition for Ministerial and Presidential Offices in Senegal</a:t>
            </a:r>
            <a:endParaRPr lang="en-US" sz="110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27987CD-BF58-DEB1-123D-780350F71907}"/>
              </a:ext>
            </a:extLst>
          </p:cNvPr>
          <p:cNvSpPr/>
          <p:nvPr/>
        </p:nvSpPr>
        <p:spPr>
          <a:xfrm>
            <a:off x="4876800" y="61285"/>
            <a:ext cx="4267200" cy="451039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STRICTLY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3500"/>
          </a:xfrm>
          <a:prstGeom prst="rect">
            <a:avLst/>
          </a:prstGeom>
          <a:solidFill>
            <a:srgbClr val="0B2A3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3840480" y="0"/>
            <a:ext cx="54864" cy="514350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457200" y="548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context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6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</a:t>
            </a: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person who manages your schedule is the most important person around you as a leader. </a:t>
            </a:r>
            <a:r>
              <a:rPr lang="en-US" sz="36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»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3108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President Clinton to Tony Blair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3383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'On Leadership'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Tony Blair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0" y="45720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challenges of political leadership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4297680" y="1097280"/>
            <a:ext cx="43891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216152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92040" y="11430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Expectation of optimal results from day one, with no transition period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4297680" y="1783080"/>
            <a:ext cx="43891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190195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2040" y="18288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Bureaucratic resistance that can slow down change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4297680" y="2468880"/>
            <a:ext cx="43891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587752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92040" y="25146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 of reliable information inherited from previous years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297680" y="3154680"/>
            <a:ext cx="43891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273552"/>
            <a:ext cx="292608" cy="29260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92040" y="32004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word and action scrutinized by opposition and media</a:t>
            </a:r>
            <a:endParaRPr lang="en-US" sz="1100" dirty="0"/>
          </a:p>
        </p:txBody>
      </p:sp>
      <p:sp>
        <p:nvSpPr>
          <p:cNvPr id="21" name="Shape 15"/>
          <p:cNvSpPr/>
          <p:nvPr/>
        </p:nvSpPr>
        <p:spPr>
          <a:xfrm>
            <a:off x="4297680" y="3840480"/>
            <a:ext cx="4389120" cy="5486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3959352"/>
            <a:ext cx="292608" cy="29260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92040" y="388620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often inexperienced in how a leader's office functions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a Private Office (POM)?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Private Office (POM — Private Office Management) is the inner circle of trusted advisors and key staff surrounding a political leader.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2606040" cy="2926080"/>
          </a:xfrm>
          <a:prstGeom prst="rect">
            <a:avLst/>
          </a:prstGeom>
          <a:solidFill>
            <a:srgbClr val="E8F4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548640" y="1645920"/>
            <a:ext cx="2606040" cy="73152"/>
          </a:xfrm>
          <a:prstGeom prst="rect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192024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514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Political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731520" y="31546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Advisors appointed by the leader to champion their political vision, act on their behalf, and ensure the implementation of their agenda.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1645920"/>
            <a:ext cx="2606040" cy="2926080"/>
          </a:xfrm>
          <a:prstGeom prst="rect">
            <a:avLst/>
          </a:prstGeom>
          <a:solidFill>
            <a:srgbClr val="E8F4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3429000" y="1645920"/>
            <a:ext cx="2606040" cy="73152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92024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11880" y="2514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Administrative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Staff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611880" y="31546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of emails, correspondence, travel, calendars, invitations and day-to-day logistics of the office.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309360" y="1645920"/>
            <a:ext cx="2606040" cy="2926080"/>
          </a:xfrm>
          <a:prstGeom prst="rect">
            <a:avLst/>
          </a:prstGeom>
          <a:solidFill>
            <a:srgbClr val="E8F4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6309360" y="1645920"/>
            <a:ext cx="260604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920240"/>
            <a:ext cx="502920" cy="5029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492240" y="2514600"/>
            <a:ext cx="2240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Civil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Service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92240" y="3154680"/>
            <a:ext cx="2240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 government officials ensuring state continuity, policy implementation and the execution of governmental functions.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48640" y="4709160"/>
            <a:ext cx="8046720" cy="36576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3 dimensions of a high-performing Private Office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8229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effective Private Office simultaneously manages three critical dimensions: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2743200" cy="3474720"/>
          </a:xfrm>
          <a:prstGeom prst="rect">
            <a:avLst/>
          </a:prstGeom>
          <a:solidFill>
            <a:srgbClr val="0F354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743200" cy="73152"/>
          </a:xfrm>
          <a:prstGeom prst="rect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1371600" y="1600200"/>
            <a:ext cx="640080" cy="640080"/>
          </a:xfrm>
          <a:prstGeom prst="ellipse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173736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02920" y="2651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Time Management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48640" y="30175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leader’s schedule reflects strategic priorities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filtering: low-priority invitations are declined or delegated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rhythm: recurring meetings scheduled, protected slots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 acts strategically instead of reacting to emergencies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1371600"/>
            <a:ext cx="2743200" cy="3474720"/>
          </a:xfrm>
          <a:prstGeom prst="rect">
            <a:avLst/>
          </a:prstGeom>
          <a:solidFill>
            <a:srgbClr val="0F354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3291840" y="1371600"/>
            <a:ext cx="2743200" cy="73152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4297680" y="1600200"/>
            <a:ext cx="640080" cy="64008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4840" y="173736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342900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3429000" y="2651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Mastering the Information Flow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3474720" y="30175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 receives relevant information at the right time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Standardized briefing notes and decision notes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Filtering: the office proactively commissions necessary briefings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 never discovers news through the media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217920" y="1371600"/>
            <a:ext cx="2743200" cy="3474720"/>
          </a:xfrm>
          <a:prstGeom prst="rect">
            <a:avLst/>
          </a:prstGeom>
          <a:solidFill>
            <a:srgbClr val="0F354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6217920" y="1371600"/>
            <a:ext cx="2743200" cy="73152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Shape 17"/>
          <p:cNvSpPr/>
          <p:nvPr/>
        </p:nvSpPr>
        <p:spPr>
          <a:xfrm>
            <a:off x="7223760" y="1600200"/>
            <a:ext cx="640080" cy="64008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1737360"/>
            <a:ext cx="365760" cy="36576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6355080" y="2331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2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600" dirty="0"/>
          </a:p>
        </p:txBody>
      </p:sp>
      <p:sp>
        <p:nvSpPr>
          <p:cNvPr id="24" name="Text 19"/>
          <p:cNvSpPr/>
          <p:nvPr/>
        </p:nvSpPr>
        <p:spPr>
          <a:xfrm>
            <a:off x="6355080" y="26517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Tracking &amp; Implementation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6400800" y="301752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is logged with an owner and a deadline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office follows up if actions are not completed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exception reports on delays</a:t>
            </a:r>
            <a:endParaRPr lang="en-US" sz="10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 loop for real-time adjustments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Private Office Maturity Matrix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85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performance levels across each dimension — from basic operations to strategic excellence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1188720" cy="365760"/>
          </a:xfrm>
          <a:prstGeom prst="rect">
            <a:avLst/>
          </a:prstGeom>
          <a:solidFill>
            <a:srgbClr val="0B2A3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20040" y="10972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554480" y="1097280"/>
            <a:ext cx="1828800" cy="365760"/>
          </a:xfrm>
          <a:prstGeom prst="rect">
            <a:avLst/>
          </a:prstGeom>
          <a:solidFill>
            <a:srgbClr val="B0BEC5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Text 6"/>
          <p:cNvSpPr/>
          <p:nvPr/>
        </p:nvSpPr>
        <p:spPr>
          <a:xfrm>
            <a:off x="155448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097280"/>
            <a:ext cx="1828800" cy="365760"/>
          </a:xfrm>
          <a:prstGeom prst="rect">
            <a:avLst/>
          </a:prstGeom>
          <a:solidFill>
            <a:srgbClr val="78909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Text 8"/>
          <p:cNvSpPr/>
          <p:nvPr/>
        </p:nvSpPr>
        <p:spPr>
          <a:xfrm>
            <a:off x="342900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03520" y="1097280"/>
            <a:ext cx="1828800" cy="365760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530352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Proficient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178040" y="1097280"/>
            <a:ext cx="1828800" cy="365760"/>
          </a:xfrm>
          <a:prstGeom prst="rect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2"/>
          <p:cNvSpPr/>
          <p:nvPr/>
        </p:nvSpPr>
        <p:spPr>
          <a:xfrm>
            <a:off x="7178040" y="10972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High-performing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600200"/>
            <a:ext cx="1188720" cy="960120"/>
          </a:xfrm>
          <a:prstGeom prst="rect">
            <a:avLst/>
          </a:prstGeom>
          <a:solidFill>
            <a:srgbClr val="0B2A3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709928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20040" y="210312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1554480" y="1600200"/>
            <a:ext cx="1828800" cy="960120"/>
          </a:xfrm>
          <a:prstGeom prst="rect">
            <a:avLst/>
          </a:prstGeom>
          <a:solidFill>
            <a:srgbClr val="E8F4F4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Text 16"/>
          <p:cNvSpPr/>
          <p:nvPr/>
        </p:nvSpPr>
        <p:spPr>
          <a:xfrm>
            <a:off x="1645920" y="1691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scheduling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unresolved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3429000" y="1600200"/>
            <a:ext cx="1828800" cy="960120"/>
          </a:xfrm>
          <a:prstGeom prst="rect">
            <a:avLst/>
          </a:prstGeom>
          <a:solidFill>
            <a:srgbClr val="E8F4F4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3520440" y="1691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diary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Conflicts spotted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5303520" y="1600200"/>
            <a:ext cx="1828800" cy="960120"/>
          </a:xfrm>
          <a:prstGeom prst="rect">
            <a:avLst/>
          </a:prstGeom>
          <a:solidFill>
            <a:srgbClr val="E8F4F4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5394960" y="1691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filtering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Rhythm established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7178040" y="1600200"/>
            <a:ext cx="1828800" cy="960120"/>
          </a:xfrm>
          <a:prstGeom prst="rect">
            <a:avLst/>
          </a:prstGeom>
          <a:solidFill>
            <a:srgbClr val="E0F2F1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7269480" y="169164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allocation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Office-driven proactivity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320040" y="2697480"/>
            <a:ext cx="1188720" cy="960120"/>
          </a:xfrm>
          <a:prstGeom prst="rect">
            <a:avLst/>
          </a:prstGeom>
          <a:solidFill>
            <a:srgbClr val="0B2A3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807208"/>
            <a:ext cx="365760" cy="36576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320040" y="320040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1554480" y="269748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Text 26"/>
          <p:cNvSpPr/>
          <p:nvPr/>
        </p:nvSpPr>
        <p:spPr>
          <a:xfrm>
            <a:off x="1645920" y="2788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channels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lost</a:t>
            </a:r>
            <a:endParaRPr lang="en-US" sz="900" dirty="0"/>
          </a:p>
        </p:txBody>
      </p:sp>
      <p:sp>
        <p:nvSpPr>
          <p:cNvPr id="31" name="Shape 27"/>
          <p:cNvSpPr/>
          <p:nvPr/>
        </p:nvSpPr>
        <p:spPr>
          <a:xfrm>
            <a:off x="3429000" y="269748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8"/>
          <p:cNvSpPr/>
          <p:nvPr/>
        </p:nvSpPr>
        <p:spPr>
          <a:xfrm>
            <a:off x="3520440" y="2788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channel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Faithful transmission</a:t>
            </a:r>
            <a:endParaRPr lang="en-US" sz="900" dirty="0"/>
          </a:p>
        </p:txBody>
      </p:sp>
      <p:sp>
        <p:nvSpPr>
          <p:cNvPr id="33" name="Shape 29"/>
          <p:cNvSpPr/>
          <p:nvPr/>
        </p:nvSpPr>
        <p:spPr>
          <a:xfrm>
            <a:off x="5303520" y="2697480"/>
            <a:ext cx="1828800" cy="960120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4" name="Text 30"/>
          <p:cNvSpPr/>
          <p:nvPr/>
        </p:nvSpPr>
        <p:spPr>
          <a:xfrm>
            <a:off x="5394960" y="2788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filtering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Briefings commissioned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7178040" y="2697480"/>
            <a:ext cx="1828800" cy="960120"/>
          </a:xfrm>
          <a:prstGeom prst="rect">
            <a:avLst/>
          </a:prstGeom>
          <a:solidFill>
            <a:srgbClr val="E0F2F1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2"/>
          <p:cNvSpPr/>
          <p:nvPr/>
        </p:nvSpPr>
        <p:spPr>
          <a:xfrm>
            <a:off x="7269480" y="27889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anticipation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media surprises</a:t>
            </a:r>
            <a:endParaRPr lang="en-US" sz="900" dirty="0"/>
          </a:p>
        </p:txBody>
      </p:sp>
      <p:sp>
        <p:nvSpPr>
          <p:cNvPr id="37" name="Shape 33"/>
          <p:cNvSpPr/>
          <p:nvPr/>
        </p:nvSpPr>
        <p:spPr>
          <a:xfrm>
            <a:off x="320040" y="3794760"/>
            <a:ext cx="1188720" cy="960120"/>
          </a:xfrm>
          <a:prstGeom prst="rect">
            <a:avLst/>
          </a:prstGeom>
          <a:solidFill>
            <a:srgbClr val="0B2A3C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904488"/>
            <a:ext cx="365760" cy="365760"/>
          </a:xfrm>
          <a:prstGeom prst="rect">
            <a:avLst/>
          </a:prstGeom>
        </p:spPr>
      </p:pic>
      <p:sp>
        <p:nvSpPr>
          <p:cNvPr id="39" name="Text 34"/>
          <p:cNvSpPr/>
          <p:nvPr/>
        </p:nvSpPr>
        <p:spPr>
          <a:xfrm>
            <a:off x="320040" y="429768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100" dirty="0"/>
          </a:p>
        </p:txBody>
      </p:sp>
      <p:sp>
        <p:nvSpPr>
          <p:cNvPr id="40" name="Shape 35"/>
          <p:cNvSpPr/>
          <p:nvPr/>
        </p:nvSpPr>
        <p:spPr>
          <a:xfrm>
            <a:off x="1554480" y="3794760"/>
            <a:ext cx="1828800" cy="960120"/>
          </a:xfrm>
          <a:prstGeom prst="rect">
            <a:avLst/>
          </a:prstGeom>
          <a:solidFill>
            <a:srgbClr val="E8F4F4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6"/>
          <p:cNvSpPr/>
          <p:nvPr/>
        </p:nvSpPr>
        <p:spPr>
          <a:xfrm>
            <a:off x="1645920" y="3886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 hoc tracking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without deadlines</a:t>
            </a:r>
            <a:endParaRPr lang="en-US" sz="900" dirty="0"/>
          </a:p>
        </p:txBody>
      </p:sp>
      <p:sp>
        <p:nvSpPr>
          <p:cNvPr id="42" name="Shape 37"/>
          <p:cNvSpPr/>
          <p:nvPr/>
        </p:nvSpPr>
        <p:spPr>
          <a:xfrm>
            <a:off x="3429000" y="3794760"/>
            <a:ext cx="1828800" cy="960120"/>
          </a:xfrm>
          <a:prstGeom prst="rect">
            <a:avLst/>
          </a:prstGeom>
          <a:solidFill>
            <a:srgbClr val="E8F4F4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38"/>
          <p:cNvSpPr/>
          <p:nvPr/>
        </p:nvSpPr>
        <p:spPr>
          <a:xfrm>
            <a:off x="3520440" y="3886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register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Deadlines assigned</a:t>
            </a:r>
            <a:endParaRPr lang="en-US" sz="900" dirty="0"/>
          </a:p>
        </p:txBody>
      </p:sp>
      <p:sp>
        <p:nvSpPr>
          <p:cNvPr id="44" name="Shape 39"/>
          <p:cNvSpPr/>
          <p:nvPr/>
        </p:nvSpPr>
        <p:spPr>
          <a:xfrm>
            <a:off x="5303520" y="3794760"/>
            <a:ext cx="1828800" cy="960120"/>
          </a:xfrm>
          <a:prstGeom prst="rect">
            <a:avLst/>
          </a:prstGeom>
          <a:solidFill>
            <a:srgbClr val="E8F4F4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5" name="Text 40"/>
          <p:cNvSpPr/>
          <p:nvPr/>
        </p:nvSpPr>
        <p:spPr>
          <a:xfrm>
            <a:off x="5394960" y="3886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verification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Chasing late items</a:t>
            </a:r>
            <a:endParaRPr lang="en-US" sz="900" dirty="0"/>
          </a:p>
        </p:txBody>
      </p:sp>
      <p:sp>
        <p:nvSpPr>
          <p:cNvPr id="46" name="Shape 41"/>
          <p:cNvSpPr/>
          <p:nvPr/>
        </p:nvSpPr>
        <p:spPr>
          <a:xfrm>
            <a:off x="7178040" y="3794760"/>
            <a:ext cx="1828800" cy="960120"/>
          </a:xfrm>
          <a:prstGeom prst="rect">
            <a:avLst/>
          </a:prstGeom>
          <a:solidFill>
            <a:srgbClr val="E0F2F1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42"/>
          <p:cNvSpPr/>
          <p:nvPr/>
        </p:nvSpPr>
        <p:spPr>
          <a:xfrm>
            <a:off x="7269480" y="388620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support</a:t>
            </a:r>
            <a:endParaRPr lang="en-US" sz="9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reports</a:t>
            </a:r>
            <a:endParaRPr lang="en-US" sz="900" dirty="0"/>
          </a:p>
        </p:txBody>
      </p:sp>
      <p:sp>
        <p:nvSpPr>
          <p:cNvPr id="48" name="Text 43"/>
          <p:cNvSpPr/>
          <p:nvPr/>
        </p:nvSpPr>
        <p:spPr>
          <a:xfrm>
            <a:off x="1554480" y="4572000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                                                                                             High-performing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1554480" y="4846320"/>
            <a:ext cx="694944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situation in Senegal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Ministerial and presidential offices face recurring structural bottlenecks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27432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74320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46304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005840" y="1490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TIME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201168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managed in fragmented ways via WhatsApp and phone calls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Minister receives non-priority visitors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weekly rhythm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Reactive rather than strategic use of time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91840" y="1234440"/>
            <a:ext cx="27432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3291840" y="1234440"/>
            <a:ext cx="274320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46304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931920" y="1490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INFORMATION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474720" y="201168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scattered across emails, paper and oral channels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Absence of standardized briefing notes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Minister learns news through the press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centralized filing system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17920" y="1234440"/>
            <a:ext cx="2743200" cy="356616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6" name="Shape 12"/>
          <p:cNvSpPr/>
          <p:nvPr/>
        </p:nvSpPr>
        <p:spPr>
          <a:xfrm>
            <a:off x="6217920" y="1234440"/>
            <a:ext cx="2743200" cy="54864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4630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858000" y="14904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400800" y="2011680"/>
            <a:ext cx="23774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Decisions not formally recorded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assigned owner or deadline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for tracking delays</a:t>
            </a:r>
            <a:endParaRPr lang="en-US" sz="10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issues keep resurfacing without progress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answer: e-POM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731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digital version of the Private Office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e-POM transforms the manual, fragmented processes of the leader’s office into an integrated digital ecosystem, structured around 3 dimensions: Time, Information, Action.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8046720" cy="822960"/>
          </a:xfrm>
          <a:prstGeom prst="rect">
            <a:avLst/>
          </a:prstGeom>
          <a:solidFill>
            <a:srgbClr val="0F354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" name="Shape 5"/>
          <p:cNvSpPr/>
          <p:nvPr/>
        </p:nvSpPr>
        <p:spPr>
          <a:xfrm>
            <a:off x="548640" y="1920240"/>
            <a:ext cx="73152" cy="822960"/>
          </a:xfrm>
          <a:prstGeom prst="rect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8" name="Shape 6"/>
          <p:cNvSpPr/>
          <p:nvPr/>
        </p:nvSpPr>
        <p:spPr>
          <a:xfrm>
            <a:off x="822960" y="2057400"/>
            <a:ext cx="548640" cy="548640"/>
          </a:xfrm>
          <a:prstGeom prst="ellipse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19456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554480" y="19659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e-TIME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554480" y="228600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digital calendar with automatic filtering, programmed rhythm, protected slots and real-time alerts. The Minister sees their time aligned with strategic priorities.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48640" y="2926080"/>
            <a:ext cx="8046720" cy="822960"/>
          </a:xfrm>
          <a:prstGeom prst="rect">
            <a:avLst/>
          </a:prstGeom>
          <a:solidFill>
            <a:srgbClr val="0F354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548640" y="2926080"/>
            <a:ext cx="73152" cy="822960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822960" y="3063240"/>
            <a:ext cx="548640" cy="54864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20040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554480" y="2971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e-INFO</a:t>
            </a:r>
            <a:endParaRPr lang="en-US" sz="1600" dirty="0"/>
          </a:p>
        </p:txBody>
      </p:sp>
      <p:sp>
        <p:nvSpPr>
          <p:cNvPr id="17" name="Text 13"/>
          <p:cNvSpPr/>
          <p:nvPr/>
        </p:nvSpPr>
        <p:spPr>
          <a:xfrm>
            <a:off x="1554480" y="329184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platform for briefing and decision notes. Standardized templates, digital approval workflow, secure archiving and automatic briefings before every meeting.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548640" y="3931920"/>
            <a:ext cx="8046720" cy="822960"/>
          </a:xfrm>
          <a:prstGeom prst="rect">
            <a:avLst/>
          </a:prstGeom>
          <a:solidFill>
            <a:srgbClr val="0F354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Shape 15"/>
          <p:cNvSpPr/>
          <p:nvPr/>
        </p:nvSpPr>
        <p:spPr>
          <a:xfrm>
            <a:off x="548640" y="3931920"/>
            <a:ext cx="73152" cy="82296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822960" y="4069080"/>
            <a:ext cx="548640" cy="54864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0120" y="4206240"/>
            <a:ext cx="274320" cy="2743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1554480" y="3977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e-ACTION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1554480" y="4297680"/>
            <a:ext cx="6858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tracking dashboard with assigned owners, deadlines, automatic reminders and weekly exception reports generated automatically.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features of e-POM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606040" cy="1783080"/>
          </a:xfrm>
          <a:prstGeom prst="rect">
            <a:avLst/>
          </a:prstGeom>
          <a:solidFill>
            <a:srgbClr val="E8F4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06040" cy="54864"/>
          </a:xfrm>
          <a:prstGeom prst="rect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0972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97280" y="11155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Smart Calendar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6002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calendar with priority rules, invitation filtering and automatic alignment with the Minister’s strategic objectives.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291840" y="914400"/>
            <a:ext cx="2606040" cy="1783080"/>
          </a:xfrm>
          <a:prstGeom prst="rect">
            <a:avLst/>
          </a:prstGeom>
          <a:solidFill>
            <a:srgbClr val="E8F4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3291840" y="914400"/>
            <a:ext cx="2606040" cy="54864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0972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931920" y="11155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Workflow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3474720" y="16002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Digitized briefing and decision note templates. Approval workflow with complete audit trail.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126480" y="914400"/>
            <a:ext cx="2606040" cy="1783080"/>
          </a:xfrm>
          <a:prstGeom prst="rect">
            <a:avLst/>
          </a:prstGeom>
          <a:solidFill>
            <a:srgbClr val="E8F4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6126480" y="914400"/>
            <a:ext cx="260604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0972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66560" y="111556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Action Tracker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6309360" y="160020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dashboard of decisions taken. Assigned owners, deadlines, statuses and automatic reminders.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57200" y="2880360"/>
            <a:ext cx="2606040" cy="1783080"/>
          </a:xfrm>
          <a:prstGeom prst="rect">
            <a:avLst/>
          </a:prstGeom>
          <a:solidFill>
            <a:srgbClr val="E8F4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457200" y="2880360"/>
            <a:ext cx="2606040" cy="54864"/>
          </a:xfrm>
          <a:prstGeom prst="rect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06324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097280" y="30815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Sovereign Security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640080" y="35661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hosting compliant with digital sovereignty requirements. End-to-end encryption and granular access control.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3291840" y="2880360"/>
            <a:ext cx="2606040" cy="1783080"/>
          </a:xfrm>
          <a:prstGeom prst="rect">
            <a:avLst/>
          </a:prstGeom>
          <a:solidFill>
            <a:srgbClr val="E8F4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Shape 19"/>
          <p:cNvSpPr/>
          <p:nvPr/>
        </p:nvSpPr>
        <p:spPr>
          <a:xfrm>
            <a:off x="3291840" y="2880360"/>
            <a:ext cx="2606040" cy="54864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06324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3931920" y="30815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Dashboards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3474720" y="35661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on time utilization, information volume and decision execution rate across all three dimensions.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26480" y="2880360"/>
            <a:ext cx="2606040" cy="1783080"/>
          </a:xfrm>
          <a:prstGeom prst="rect">
            <a:avLst/>
          </a:prstGeom>
          <a:solidFill>
            <a:srgbClr val="E8F4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0" name="Shape 23"/>
          <p:cNvSpPr/>
          <p:nvPr/>
        </p:nvSpPr>
        <p:spPr>
          <a:xfrm>
            <a:off x="6126480" y="2880360"/>
            <a:ext cx="260604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09360" y="3063240"/>
            <a:ext cx="365760" cy="36576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766560" y="308152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AI-Assisted Intelligence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6309360" y="3566160"/>
            <a:ext cx="2240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briefing suggestions, daily press summaries and anomaly detection in tracking workflows.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e-POM transformation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868680"/>
            <a:ext cx="3840480" cy="4114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— Traditional office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868680"/>
            <a:ext cx="3840480" cy="41148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4846320" y="8686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— e-POM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Paper-based schedule and WhatsApp, frequent conflicts</a:t>
            </a:r>
            <a:endParaRPr lang="en-US" sz="9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536192"/>
            <a:ext cx="320040" cy="32004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846320" y="1463040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4846320" y="1463040"/>
            <a:ext cx="54864" cy="475488"/>
          </a:xfrm>
          <a:prstGeom prst="rect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029200" y="148132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digital calendar, conflicts detected automatically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2029968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594360" y="2048256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Minister manages their own invitations</a:t>
            </a:r>
            <a:endParaRPr lang="en-US" sz="95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103120"/>
            <a:ext cx="320040" cy="32004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846320" y="2029968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4"/>
          <p:cNvSpPr/>
          <p:nvPr/>
        </p:nvSpPr>
        <p:spPr>
          <a:xfrm>
            <a:off x="4846320" y="2029968"/>
            <a:ext cx="54864" cy="475488"/>
          </a:xfrm>
          <a:prstGeom prst="rect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5"/>
          <p:cNvSpPr/>
          <p:nvPr/>
        </p:nvSpPr>
        <p:spPr>
          <a:xfrm>
            <a:off x="5029200" y="2048256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filtering based on strategic priorities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457200" y="2596896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594360" y="2615184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notes, slow circulation</a:t>
            </a:r>
            <a:endParaRPr lang="en-US" sz="9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2670048"/>
            <a:ext cx="320040" cy="320040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4846320" y="2596896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19"/>
          <p:cNvSpPr/>
          <p:nvPr/>
        </p:nvSpPr>
        <p:spPr>
          <a:xfrm>
            <a:off x="4846320" y="2596896"/>
            <a:ext cx="54864" cy="475488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Text 20"/>
          <p:cNvSpPr/>
          <p:nvPr/>
        </p:nvSpPr>
        <p:spPr>
          <a:xfrm>
            <a:off x="5029200" y="2615184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digital workflow with standardized templates</a:t>
            </a:r>
            <a:endParaRPr lang="en-US" sz="950" dirty="0"/>
          </a:p>
        </p:txBody>
      </p:sp>
      <p:sp>
        <p:nvSpPr>
          <p:cNvPr id="26" name="Shape 21"/>
          <p:cNvSpPr/>
          <p:nvPr/>
        </p:nvSpPr>
        <p:spPr>
          <a:xfrm>
            <a:off x="457200" y="3163824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2"/>
          <p:cNvSpPr/>
          <p:nvPr/>
        </p:nvSpPr>
        <p:spPr>
          <a:xfrm>
            <a:off x="594360" y="3182112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Scattered information, no archiving</a:t>
            </a:r>
            <a:endParaRPr lang="en-US" sz="95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236976"/>
            <a:ext cx="320040" cy="32004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4846320" y="3163824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0" name="Shape 24"/>
          <p:cNvSpPr/>
          <p:nvPr/>
        </p:nvSpPr>
        <p:spPr>
          <a:xfrm>
            <a:off x="4846320" y="3163824"/>
            <a:ext cx="54864" cy="475488"/>
          </a:xfrm>
          <a:prstGeom prst="rect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1" name="Text 25"/>
          <p:cNvSpPr/>
          <p:nvPr/>
        </p:nvSpPr>
        <p:spPr>
          <a:xfrm>
            <a:off x="5029200" y="3182112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database, instant search, secure archiving</a:t>
            </a:r>
            <a:endParaRPr lang="en-US" sz="950" dirty="0"/>
          </a:p>
        </p:txBody>
      </p:sp>
      <p:sp>
        <p:nvSpPr>
          <p:cNvPr id="32" name="Shape 26"/>
          <p:cNvSpPr/>
          <p:nvPr/>
        </p:nvSpPr>
        <p:spPr>
          <a:xfrm>
            <a:off x="457200" y="3730752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27"/>
          <p:cNvSpPr/>
          <p:nvPr/>
        </p:nvSpPr>
        <p:spPr>
          <a:xfrm>
            <a:off x="594360" y="3749040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Oral decisions, no tracking</a:t>
            </a:r>
            <a:endParaRPr lang="en-US" sz="95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3803904"/>
            <a:ext cx="320040" cy="320040"/>
          </a:xfrm>
          <a:prstGeom prst="rect">
            <a:avLst/>
          </a:prstGeom>
        </p:spPr>
      </p:pic>
      <p:sp>
        <p:nvSpPr>
          <p:cNvPr id="35" name="Shape 28"/>
          <p:cNvSpPr/>
          <p:nvPr/>
        </p:nvSpPr>
        <p:spPr>
          <a:xfrm>
            <a:off x="4846320" y="3730752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Shape 29"/>
          <p:cNvSpPr/>
          <p:nvPr/>
        </p:nvSpPr>
        <p:spPr>
          <a:xfrm>
            <a:off x="4846320" y="3730752"/>
            <a:ext cx="54864" cy="47548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7" name="Text 30"/>
          <p:cNvSpPr/>
          <p:nvPr/>
        </p:nvSpPr>
        <p:spPr>
          <a:xfrm>
            <a:off x="5029200" y="3749040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register with owner, deadline and status</a:t>
            </a:r>
            <a:endParaRPr lang="en-US" sz="950" dirty="0"/>
          </a:p>
        </p:txBody>
      </p:sp>
      <p:sp>
        <p:nvSpPr>
          <p:cNvPr id="38" name="Shape 31"/>
          <p:cNvSpPr/>
          <p:nvPr/>
        </p:nvSpPr>
        <p:spPr>
          <a:xfrm>
            <a:off x="457200" y="4297680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Text 32"/>
          <p:cNvSpPr/>
          <p:nvPr/>
        </p:nvSpPr>
        <p:spPr>
          <a:xfrm>
            <a:off x="594360" y="4315968"/>
            <a:ext cx="3566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follow-up, frequent oversights</a:t>
            </a:r>
            <a:endParaRPr lang="en-US" sz="950" dirty="0"/>
          </a:p>
        </p:txBody>
      </p:sp>
      <p:pic>
        <p:nvPicPr>
          <p:cNvPr id="40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4370832"/>
            <a:ext cx="320040" cy="320040"/>
          </a:xfrm>
          <a:prstGeom prst="rect">
            <a:avLst/>
          </a:prstGeom>
        </p:spPr>
      </p:pic>
      <p:sp>
        <p:nvSpPr>
          <p:cNvPr id="41" name="Shape 33"/>
          <p:cNvSpPr/>
          <p:nvPr/>
        </p:nvSpPr>
        <p:spPr>
          <a:xfrm>
            <a:off x="4846320" y="4297680"/>
            <a:ext cx="384048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2" name="Shape 34"/>
          <p:cNvSpPr/>
          <p:nvPr/>
        </p:nvSpPr>
        <p:spPr>
          <a:xfrm>
            <a:off x="4846320" y="4297680"/>
            <a:ext cx="54864" cy="475488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3" name="Text 35"/>
          <p:cNvSpPr/>
          <p:nvPr/>
        </p:nvSpPr>
        <p:spPr>
          <a:xfrm>
            <a:off x="5029200" y="4315968"/>
            <a:ext cx="3520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B2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alerts, weekly exception reports</a:t>
            </a:r>
            <a:endParaRPr lang="en-US" sz="950" dirty="0"/>
          </a:p>
        </p:txBody>
      </p:sp>
      <p:sp>
        <p:nvSpPr>
          <p:cNvPr id="44" name="Shape 36"/>
          <p:cNvSpPr/>
          <p:nvPr/>
        </p:nvSpPr>
        <p:spPr>
          <a:xfrm>
            <a:off x="2011680" y="4937760"/>
            <a:ext cx="137160" cy="137160"/>
          </a:xfrm>
          <a:prstGeom prst="ellipse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37"/>
          <p:cNvSpPr/>
          <p:nvPr/>
        </p:nvSpPr>
        <p:spPr>
          <a:xfrm>
            <a:off x="2194560" y="4892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900" dirty="0"/>
          </a:p>
        </p:txBody>
      </p:sp>
      <p:sp>
        <p:nvSpPr>
          <p:cNvPr id="46" name="Shape 38"/>
          <p:cNvSpPr/>
          <p:nvPr/>
        </p:nvSpPr>
        <p:spPr>
          <a:xfrm>
            <a:off x="3474720" y="4937760"/>
            <a:ext cx="137160" cy="13716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39"/>
          <p:cNvSpPr/>
          <p:nvPr/>
        </p:nvSpPr>
        <p:spPr>
          <a:xfrm>
            <a:off x="3657600" y="489204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5303520" y="4937760"/>
            <a:ext cx="137160" cy="13716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9" name="Text 41"/>
          <p:cNvSpPr/>
          <p:nvPr/>
        </p:nvSpPr>
        <p:spPr>
          <a:xfrm>
            <a:off x="5486400" y="4892040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e-POM Architecture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integrated ecosystem designed for the Senegalese context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0" y="2011680"/>
            <a:ext cx="2194560" cy="1828800"/>
          </a:xfrm>
          <a:prstGeom prst="ellipse">
            <a:avLst/>
          </a:prstGeom>
          <a:solidFill>
            <a:srgbClr val="0D6E6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3474720" y="2286000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e-POM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Central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Platform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1280160"/>
            <a:ext cx="1828800" cy="822960"/>
          </a:xfrm>
          <a:prstGeom prst="rect">
            <a:avLst/>
          </a:prstGeom>
          <a:solidFill>
            <a:srgbClr val="0D6E6E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630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371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e-Time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858000" y="1280160"/>
            <a:ext cx="1828800" cy="822960"/>
          </a:xfrm>
          <a:prstGeom prst="rect">
            <a:avLst/>
          </a:prstGeom>
          <a:solidFill>
            <a:srgbClr val="14919B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5160" y="14630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452360" y="137160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e-Info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57200" y="3200400"/>
            <a:ext cx="1828800" cy="822960"/>
          </a:xfrm>
          <a:prstGeom prst="rect">
            <a:avLst/>
          </a:prstGeom>
          <a:solidFill>
            <a:srgbClr val="D4A843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38328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051560" y="3291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e-Action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6858000" y="3200400"/>
            <a:ext cx="1828800" cy="822960"/>
          </a:xfrm>
          <a:prstGeom prst="rect">
            <a:avLst/>
          </a:prstGeom>
          <a:solidFill>
            <a:srgbClr val="455A6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5160" y="338328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52360" y="329184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</a:t>
            </a:r>
            <a:endParaRPr lang="en-US" sz="1100" dirty="0"/>
          </a:p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3566160" y="4069080"/>
            <a:ext cx="1828800" cy="822960"/>
          </a:xfrm>
          <a:prstGeom prst="rect">
            <a:avLst/>
          </a:prstGeom>
          <a:solidFill>
            <a:srgbClr val="37474F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03320" y="4251960"/>
            <a:ext cx="411480" cy="41148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160520" y="4160520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</a:t>
            </a:r>
            <a:endParaRPr lang="en-US" sz="1100" dirty="0"/>
          </a:p>
        </p:txBody>
      </p:sp>
      <p:sp>
        <p:nvSpPr>
          <p:cNvPr id="22" name="Shape 15"/>
          <p:cNvSpPr/>
          <p:nvPr/>
        </p:nvSpPr>
        <p:spPr>
          <a:xfrm>
            <a:off x="2286000" y="1691640"/>
            <a:ext cx="1188720" cy="731520"/>
          </a:xfrm>
          <a:prstGeom prst="line">
            <a:avLst/>
          </a:prstGeom>
          <a:noFill/>
          <a:ln w="19050">
            <a:solidFill>
              <a:srgbClr val="D4A843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16"/>
          <p:cNvSpPr/>
          <p:nvPr/>
        </p:nvSpPr>
        <p:spPr>
          <a:xfrm>
            <a:off x="5669280" y="1691640"/>
            <a:ext cx="1188720" cy="731520"/>
          </a:xfrm>
          <a:prstGeom prst="line">
            <a:avLst/>
          </a:prstGeom>
          <a:noFill/>
          <a:ln w="19050">
            <a:solidFill>
              <a:srgbClr val="D4A843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4" name="Shape 17"/>
          <p:cNvSpPr/>
          <p:nvPr/>
        </p:nvSpPr>
        <p:spPr>
          <a:xfrm>
            <a:off x="2286000" y="2926080"/>
            <a:ext cx="1188720" cy="640080"/>
          </a:xfrm>
          <a:prstGeom prst="line">
            <a:avLst/>
          </a:prstGeom>
          <a:noFill/>
          <a:ln w="19050">
            <a:solidFill>
              <a:srgbClr val="D4A843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5" name="Shape 18"/>
          <p:cNvSpPr/>
          <p:nvPr/>
        </p:nvSpPr>
        <p:spPr>
          <a:xfrm>
            <a:off x="5669280" y="2926080"/>
            <a:ext cx="1188720" cy="640080"/>
          </a:xfrm>
          <a:prstGeom prst="line">
            <a:avLst/>
          </a:prstGeom>
          <a:noFill/>
          <a:ln w="19050">
            <a:solidFill>
              <a:srgbClr val="D4A843"/>
            </a:solidFill>
            <a:prstDash val="dash"/>
          </a:ln>
        </p:spPr>
        <p:txBody>
          <a:bodyPr/>
          <a:lstStyle/>
          <a:p>
            <a:endParaRPr lang="fr-FR"/>
          </a:p>
        </p:txBody>
      </p:sp>
      <p:sp>
        <p:nvSpPr>
          <p:cNvPr id="26" name="Shape 19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solidFill>
            <a:srgbClr val="0F354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Text 20"/>
          <p:cNvSpPr/>
          <p:nvPr/>
        </p:nvSpPr>
        <p:spPr>
          <a:xfrm>
            <a:off x="457200" y="4617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Sovereign cloud hosting  •  AES-256 encryption  •  Multi-factor authentication  •  Mobile-compatible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2860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Deployment approach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6858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progressive rollout in 4 phases over 6 months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1965960" cy="3474720"/>
          </a:xfrm>
          <a:prstGeom prst="rect">
            <a:avLst/>
          </a:prstGeom>
          <a:solidFill>
            <a:srgbClr val="E8F4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005840" y="1371600"/>
            <a:ext cx="640080" cy="640080"/>
          </a:xfrm>
          <a:prstGeom prst="ellipse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5"/>
          <p:cNvSpPr/>
          <p:nvPr/>
        </p:nvSpPr>
        <p:spPr>
          <a:xfrm>
            <a:off x="100584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103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" y="2423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27889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of the current office operations. Interviews with staff. Mapping of Time, Information and Action processes.</a:t>
            </a:r>
            <a:endParaRPr lang="en-US" sz="10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31720" y="2606040"/>
            <a:ext cx="274320" cy="274320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514600" y="1188720"/>
            <a:ext cx="1965960" cy="3474720"/>
          </a:xfrm>
          <a:prstGeom prst="rect">
            <a:avLst/>
          </a:prstGeom>
          <a:solidFill>
            <a:srgbClr val="E8F4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3154680" y="1371600"/>
            <a:ext cx="640080" cy="64008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315468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2651760" y="2103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Configuration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651760" y="2423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4–8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651760" y="27889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setup. Creation of note templates. Configuration of approval workflows and calendar rules.</a:t>
            </a:r>
            <a:endParaRPr lang="en-US" sz="1000" dirty="0"/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2606040"/>
            <a:ext cx="274320" cy="27432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663440" y="1188720"/>
            <a:ext cx="1965960" cy="3474720"/>
          </a:xfrm>
          <a:prstGeom prst="rect">
            <a:avLst/>
          </a:prstGeom>
          <a:solidFill>
            <a:srgbClr val="E8F4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6"/>
          <p:cNvSpPr/>
          <p:nvPr/>
        </p:nvSpPr>
        <p:spPr>
          <a:xfrm>
            <a:off x="5303520" y="1371600"/>
            <a:ext cx="640080" cy="64008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7"/>
          <p:cNvSpPr/>
          <p:nvPr/>
        </p:nvSpPr>
        <p:spPr>
          <a:xfrm>
            <a:off x="53035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000" dirty="0"/>
          </a:p>
        </p:txBody>
      </p:sp>
      <p:sp>
        <p:nvSpPr>
          <p:cNvPr id="22" name="Text 18"/>
          <p:cNvSpPr/>
          <p:nvPr/>
        </p:nvSpPr>
        <p:spPr>
          <a:xfrm>
            <a:off x="4800600" y="2103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Training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4800600" y="2423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9–14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4800600" y="27889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Module-based training for office staff. On-site support. Dual paper/digital operations during transition.</a:t>
            </a:r>
            <a:endParaRPr lang="en-US" sz="1000" dirty="0"/>
          </a:p>
        </p:txBody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2606040"/>
            <a:ext cx="274320" cy="274320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812280" y="1188720"/>
            <a:ext cx="1965960" cy="3474720"/>
          </a:xfrm>
          <a:prstGeom prst="rect">
            <a:avLst/>
          </a:prstGeom>
          <a:solidFill>
            <a:srgbClr val="E8F4F4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7" name="Shape 22"/>
          <p:cNvSpPr/>
          <p:nvPr/>
        </p:nvSpPr>
        <p:spPr>
          <a:xfrm>
            <a:off x="7452360" y="1371600"/>
            <a:ext cx="640080" cy="640080"/>
          </a:xfrm>
          <a:prstGeom prst="ellipse">
            <a:avLst/>
          </a:prstGeom>
          <a:solidFill>
            <a:srgbClr val="0B2A3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3"/>
          <p:cNvSpPr/>
          <p:nvPr/>
        </p:nvSpPr>
        <p:spPr>
          <a:xfrm>
            <a:off x="745236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4"/>
          <p:cNvSpPr/>
          <p:nvPr/>
        </p:nvSpPr>
        <p:spPr>
          <a:xfrm>
            <a:off x="6949440" y="2103120"/>
            <a:ext cx="1691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B2A3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Autonomy</a:t>
            </a:r>
            <a:endParaRPr lang="en-US" sz="1500" dirty="0"/>
          </a:p>
        </p:txBody>
      </p:sp>
      <p:sp>
        <p:nvSpPr>
          <p:cNvPr id="30" name="Text 25"/>
          <p:cNvSpPr/>
          <p:nvPr/>
        </p:nvSpPr>
        <p:spPr>
          <a:xfrm>
            <a:off x="6949440" y="242316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15–24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6949440" y="2788920"/>
            <a:ext cx="1691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handover. Performance monitoring. Continuous optimization based on dashboard analytics.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548640" y="27432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e-POM for Senegal?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023360" cy="1554480"/>
          </a:xfrm>
          <a:prstGeom prst="rect">
            <a:avLst/>
          </a:prstGeom>
          <a:solidFill>
            <a:srgbClr val="0F354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" name="Shape 3"/>
          <p:cNvSpPr/>
          <p:nvPr/>
        </p:nvSpPr>
        <p:spPr>
          <a:xfrm>
            <a:off x="457200" y="1005840"/>
            <a:ext cx="64008" cy="15544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1887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80160" y="1143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Aligned with the Senegal 2050 vision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31520" y="1645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transformation of governance, a pillar of the national strategy for state modernization.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663440" y="1005840"/>
            <a:ext cx="4023360" cy="1554480"/>
          </a:xfrm>
          <a:prstGeom prst="rect">
            <a:avLst/>
          </a:prstGeom>
          <a:solidFill>
            <a:srgbClr val="0F354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4663440" y="1005840"/>
            <a:ext cx="64008" cy="15544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0" y="11887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0" y="11430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sovereignty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937760" y="16459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hosted locally, compliant with the standards of Senegal’s Personal Data Commission (CDP).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2834640"/>
            <a:ext cx="4023360" cy="1554480"/>
          </a:xfrm>
          <a:prstGeom prst="rect">
            <a:avLst/>
          </a:prstGeom>
          <a:solidFill>
            <a:srgbClr val="0F354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5" name="Shape 11"/>
          <p:cNvSpPr/>
          <p:nvPr/>
        </p:nvSpPr>
        <p:spPr>
          <a:xfrm>
            <a:off x="457200" y="2834640"/>
            <a:ext cx="64008" cy="15544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01752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8016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Adapted to the local context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31520" y="34747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French-language interface, compatible with Senegalese mobile networks, offline functionality available.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663440" y="2834640"/>
            <a:ext cx="4023360" cy="1554480"/>
          </a:xfrm>
          <a:prstGeom prst="rect">
            <a:avLst/>
          </a:prstGeom>
          <a:solidFill>
            <a:srgbClr val="0F3548"/>
          </a:solidFill>
          <a:ln/>
          <a:effectLst>
            <a:outerShdw blurRad="762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0" name="Shape 15"/>
          <p:cNvSpPr/>
          <p:nvPr/>
        </p:nvSpPr>
        <p:spPr>
          <a:xfrm>
            <a:off x="4663440" y="2834640"/>
            <a:ext cx="64008" cy="1554480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37760" y="301752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486400" y="297180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Measurable impact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937760" y="3474720"/>
            <a:ext cx="3566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indicators across all 3 dimensions (Time, Info, Action) to demonstrate progress to citizens.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2A3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200" b="1" kern="0" spc="800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e-POM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1371600" y="201168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Let’s transform how Senegal’s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leader’s offices operate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657600" y="2926080"/>
            <a:ext cx="1828800" cy="0"/>
          </a:xfrm>
          <a:prstGeom prst="line">
            <a:avLst/>
          </a:prstGeom>
          <a:noFill/>
          <a:ln w="25400">
            <a:solidFill>
              <a:srgbClr val="D4A843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Shape 4"/>
          <p:cNvSpPr/>
          <p:nvPr/>
        </p:nvSpPr>
        <p:spPr>
          <a:xfrm>
            <a:off x="1828800" y="3200400"/>
            <a:ext cx="731520" cy="731520"/>
          </a:xfrm>
          <a:prstGeom prst="ellipse">
            <a:avLst/>
          </a:prstGeom>
          <a:solidFill>
            <a:srgbClr val="0D6E6E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3383280"/>
            <a:ext cx="365760" cy="3657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4023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931920" y="3200400"/>
            <a:ext cx="731520" cy="731520"/>
          </a:xfrm>
          <a:prstGeom prst="ellipse">
            <a:avLst/>
          </a:prstGeom>
          <a:solidFill>
            <a:srgbClr val="14919B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338328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657600" y="4023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35040" y="3200400"/>
            <a:ext cx="731520" cy="731520"/>
          </a:xfrm>
          <a:prstGeom prst="ellipse">
            <a:avLst/>
          </a:prstGeom>
          <a:solidFill>
            <a:srgbClr val="D4A843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0" y="338328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760720" y="402336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1828800" y="46177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B7B8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digitize governance?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1046</Words>
  <Application>Microsoft Office PowerPoint</Application>
  <PresentationFormat>Affichage à l'écran (16:9)</PresentationFormat>
  <Paragraphs>205</Paragraphs>
  <Slides>13</Slides>
  <Notes>13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13</vt:i4>
      </vt:variant>
    </vt:vector>
  </HeadingPairs>
  <TitlesOfParts>
    <vt:vector size="17" baseType="lpstr">
      <vt:lpstr>Arial</vt:lpstr>
      <vt:lpstr>Calibri</vt:lpstr>
      <vt:lpstr>Georgia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e-POM - The Digital Leader's Office</dc:title>
  <dc:subject>PptxGenJS Presentation</dc:subject>
  <dc:creator>SOB</dc:creator>
  <cp:lastModifiedBy>Seydina Oumar Ba</cp:lastModifiedBy>
  <cp:revision>2</cp:revision>
  <dcterms:created xsi:type="dcterms:W3CDTF">2026-03-13T22:15:10Z</dcterms:created>
  <dcterms:modified xsi:type="dcterms:W3CDTF">2026-03-13T22:20:13Z</dcterms:modified>
</cp:coreProperties>
</file>